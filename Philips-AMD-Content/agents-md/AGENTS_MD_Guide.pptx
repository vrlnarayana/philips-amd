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846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0" y="0"/>
            <a:ext cx="6062472" cy="6858000"/>
          </a:xfrm>
          <a:prstGeom prst="rect">
            <a:avLst/>
          </a:prstGeom>
          <a:solidFill>
            <a:srgbClr val="FF6600"/>
          </a:solidFill>
          <a:ln/>
        </p:spPr>
      </p:sp>
      <p:sp>
        <p:nvSpPr>
          <p:cNvPr id="3" name="Shape 1"/>
          <p:cNvSpPr/>
          <p:nvPr/>
        </p:nvSpPr>
        <p:spPr>
          <a:xfrm>
            <a:off x="8138160" y="0"/>
            <a:ext cx="4050792" cy="6858000"/>
          </a:xfrm>
          <a:prstGeom prst="rect">
            <a:avLst/>
          </a:prstGeom>
          <a:solidFill>
            <a:srgbClr val="F78E47">
              <a:alpha val="60000"/>
            </a:srgbClr>
          </a:solidFill>
          <a:ln/>
        </p:spPr>
      </p:sp>
      <p:pic>
        <p:nvPicPr>
          <p:cNvPr id="4" name="Image 0" descr="unext_white_lock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2194560" cy="457200"/>
          </a:xfrm>
          <a:prstGeom prst="rect">
            <a:avLst/>
          </a:prstGeom>
        </p:spPr>
      </p:pic>
      <p:pic>
        <p:nvPicPr>
          <p:cNvPr id="5" name="Image 1" descr="unext_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411480"/>
            <a:ext cx="384048" cy="576072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" y="2103120"/>
            <a:ext cx="86868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AGENTS.md — the Contract That Builds Your Use Case</a:t>
            </a:r>
            <a:endParaRPr lang="en-US" sz="3800" dirty="0"/>
          </a:p>
        </p:txBody>
      </p:sp>
      <p:sp>
        <p:nvSpPr>
          <p:cNvPr id="7" name="Text 3"/>
          <p:cNvSpPr/>
          <p:nvPr/>
        </p:nvSpPr>
        <p:spPr>
          <a:xfrm>
            <a:off x="566928" y="3520440"/>
            <a:ext cx="8503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dirty="0">
                <a:solidFill>
                  <a:srgbClr val="FFE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write the AGENTS.md that steers OpenCode (Kimi-K2.5) to build safe, scaffolded agent systems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566928" y="4892040"/>
            <a:ext cx="7315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Client:  </a:t>
            </a:r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FFE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Participant Guide · Philips AMD
</a:t>
            </a:r>
            <a:pPr indent="0" marL="0">
              <a:lnSpc>
                <a:spcPts val="24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Trainer:  </a:t>
            </a:r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FFE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Agentic AI Bootcamp
</a:t>
            </a:r>
            <a:pPr indent="0" marL="0">
              <a:lnSpc>
                <a:spcPts val="24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Date:  </a:t>
            </a:r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FFE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2-day hands-on · OpenCode + Kimi-K2.5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548640" y="6263640"/>
            <a:ext cx="11064240" cy="0"/>
          </a:xfrm>
          <a:prstGeom prst="line">
            <a:avLst/>
          </a:prstGeom>
          <a:noFill/>
          <a:ln w="12700">
            <a:solidFill>
              <a:srgbClr val="FFD9C2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406640" cy="6858000"/>
          </a:xfrm>
          <a:prstGeom prst="rect">
            <a:avLst/>
          </a:prstGeom>
          <a:solidFill>
            <a:srgbClr val="E8460E"/>
          </a:solidFill>
          <a:ln/>
        </p:spPr>
      </p:sp>
      <p:sp>
        <p:nvSpPr>
          <p:cNvPr id="3" name="Shape 1"/>
          <p:cNvSpPr/>
          <p:nvPr/>
        </p:nvSpPr>
        <p:spPr>
          <a:xfrm>
            <a:off x="5394960" y="0"/>
            <a:ext cx="2011680" cy="6858000"/>
          </a:xfrm>
          <a:prstGeom prst="rect">
            <a:avLst/>
          </a:prstGeom>
          <a:solidFill>
            <a:srgbClr val="FF6600">
              <a:alpha val="70000"/>
            </a:srgbClr>
          </a:solidFill>
          <a:ln/>
        </p:spPr>
      </p:sp>
      <p:pic>
        <p:nvPicPr>
          <p:cNvPr id="4" name="Image 0" descr="unext_white_lock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2194560" cy="457200"/>
          </a:xfrm>
          <a:prstGeom prst="rect">
            <a:avLst/>
          </a:prstGeom>
        </p:spPr>
      </p:pic>
      <p:pic>
        <p:nvPicPr>
          <p:cNvPr id="5" name="Image 1" descr="unext_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502920"/>
            <a:ext cx="457200" cy="6858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" y="251460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E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</a:t>
            </a:r>
            <a:endParaRPr lang="en-US" sz="1400" dirty="0"/>
          </a:p>
        </p:txBody>
      </p:sp>
      <p:sp>
        <p:nvSpPr>
          <p:cNvPr id="7" name="Text 3"/>
          <p:cNvSpPr/>
          <p:nvPr/>
        </p:nvSpPr>
        <p:spPr>
          <a:xfrm>
            <a:off x="548640" y="2880360"/>
            <a:ext cx="64922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AGENTS.md Is — and Why It Decides Your Two Days</a:t>
            </a:r>
            <a:endParaRPr lang="en-US" sz="3200" dirty="0"/>
          </a:p>
        </p:txBody>
      </p:sp>
      <p:sp>
        <p:nvSpPr>
          <p:cNvPr id="8" name="Shape 4"/>
          <p:cNvSpPr/>
          <p:nvPr/>
        </p:nvSpPr>
        <p:spPr>
          <a:xfrm>
            <a:off x="566928" y="4343400"/>
            <a:ext cx="2926080" cy="0"/>
          </a:xfrm>
          <a:prstGeom prst="line">
            <a:avLst/>
          </a:prstGeom>
          <a:noFill/>
          <a:ln w="19050">
            <a:solidFill>
              <a:srgbClr val="FFD9C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772400" y="2880360"/>
            <a:ext cx="39319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OpenCode reads AGENTS.md automatically every time it works in your project. It is the single most important file you write — before you write any code.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46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45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AGENTS.md in One Minute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298448"/>
            <a:ext cx="11064240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pic>
        <p:nvPicPr>
          <p:cNvPr id="5" name="Image 0" descr="unext_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365760"/>
            <a:ext cx="329184" cy="49377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6400800"/>
            <a:ext cx="9418320" cy="0"/>
          </a:xfrm>
          <a:prstGeom prst="line">
            <a:avLst/>
          </a:prstGeom>
          <a:noFill/>
          <a:ln w="9525">
            <a:solidFill>
              <a:srgbClr val="F0DCB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6437376"/>
            <a:ext cx="9326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76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content and the program approach is strictly confidential. It is strictly forbidden to share any part of this program design approach with any third party</a:t>
            </a:r>
            <a:endParaRPr lang="en-US" sz="700" dirty="0"/>
          </a:p>
        </p:txBody>
      </p:sp>
      <p:pic>
        <p:nvPicPr>
          <p:cNvPr id="8" name="Image 1" descr="unext_dark_lock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5560" y="6419088"/>
            <a:ext cx="1417320" cy="301752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48640" y="1554480"/>
            <a:ext cx="5440680" cy="4480560"/>
          </a:xfrm>
          <a:prstGeom prst="roundRect">
            <a:avLst>
              <a:gd name="adj" fmla="val 1429"/>
            </a:avLst>
          </a:prstGeom>
          <a:solidFill>
            <a:srgbClr val="F5F7FA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77240" y="1737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46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is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777240" y="2212848"/>
            <a:ext cx="498348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ts val="17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b="1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plain-Markdown file at your project root</a:t>
            </a:r>
            <a:endParaRPr lang="en-US" sz="1250" dirty="0"/>
          </a:p>
          <a:p>
            <a:pPr marL="203200" indent="-203200">
              <a:lnSpc>
                <a:spcPts val="17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OpenCode (running Kimi-K2.5) reads it automatically, every turn</a:t>
            </a:r>
            <a:endParaRPr lang="en-US" sz="1250" dirty="0"/>
          </a:p>
          <a:p>
            <a:pPr marL="203200" indent="-203200">
              <a:lnSpc>
                <a:spcPts val="17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the shared standard — the same file other agentic coding tools read</a:t>
            </a:r>
            <a:endParaRPr lang="en-US" sz="1250" dirty="0"/>
          </a:p>
          <a:p>
            <a:pPr marL="203200" indent="-203200">
              <a:lnSpc>
                <a:spcPts val="17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the context + rules that steer how the coding agent builds</a:t>
            </a:r>
            <a:endParaRPr lang="en-US" sz="1250" dirty="0"/>
          </a:p>
          <a:p>
            <a:pPr marL="203200" indent="-203200">
              <a:lnSpc>
                <a:spcPts val="17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 of it as the spec that drives spec-driven development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172200" y="1554480"/>
            <a:ext cx="5440680" cy="4480560"/>
          </a:xfrm>
          <a:prstGeom prst="roundRect">
            <a:avLst>
              <a:gd name="adj" fmla="val 1429"/>
            </a:avLst>
          </a:prstGeom>
          <a:solidFill>
            <a:srgbClr val="FDF1E7"/>
          </a:solidFill>
          <a:ln w="9525">
            <a:solidFill>
              <a:srgbClr val="F0DCB8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400800" y="1737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45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decides your two days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6400800" y="2212848"/>
            <a:ext cx="498348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ts val="17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b="1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good AGENTS.md → the agent builds scaffolded, guardrailed code by construction</a:t>
            </a:r>
            <a:endParaRPr lang="en-US" sz="1250" dirty="0"/>
          </a:p>
          <a:p>
            <a:pPr marL="203200" indent="-203200">
              <a:lnSpc>
                <a:spcPts val="17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missing/weak one → you fight the agent and fix unsafe code all day</a:t>
            </a:r>
            <a:endParaRPr lang="en-US" sz="1250" dirty="0"/>
          </a:p>
          <a:p>
            <a:pPr marL="203200" indent="-203200">
              <a:lnSpc>
                <a:spcPts val="17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encodes the 10-point scaffold, the 4 guardrail layers, and the MCP rules once</a:t>
            </a:r>
            <a:endParaRPr lang="en-US" sz="1250" dirty="0"/>
          </a:p>
          <a:p>
            <a:pPr marL="203200" indent="-203200">
              <a:lnSpc>
                <a:spcPts val="17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write it first; then every prompt to OpenCode inherits it</a:t>
            </a:r>
            <a:endParaRPr lang="en-US" sz="1250" dirty="0"/>
          </a:p>
          <a:p>
            <a:pPr marL="203200" indent="-203200">
              <a:lnSpc>
                <a:spcPts val="17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'orchestration &gt; syntax' in practice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46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MENTAL MODEL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45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Mental Model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298448"/>
            <a:ext cx="11064240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pic>
        <p:nvPicPr>
          <p:cNvPr id="5" name="Image 0" descr="unext_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365760"/>
            <a:ext cx="329184" cy="49377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6400800"/>
            <a:ext cx="9418320" cy="0"/>
          </a:xfrm>
          <a:prstGeom prst="line">
            <a:avLst/>
          </a:prstGeom>
          <a:noFill/>
          <a:ln w="9525">
            <a:solidFill>
              <a:srgbClr val="F0DCB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6437376"/>
            <a:ext cx="9326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76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content and the program approach is strictly confidential. It is strictly forbidden to share any part of this program design approach with any third party</a:t>
            </a:r>
            <a:endParaRPr lang="en-US" sz="700" dirty="0"/>
          </a:p>
        </p:txBody>
      </p:sp>
      <p:pic>
        <p:nvPicPr>
          <p:cNvPr id="8" name="Image 1" descr="unext_dark_lock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5560" y="6419088"/>
            <a:ext cx="1417320" cy="301752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48640" y="1645920"/>
            <a:ext cx="11064240" cy="1371600"/>
          </a:xfrm>
          <a:prstGeom prst="roundRect">
            <a:avLst>
              <a:gd name="adj" fmla="val 4667"/>
            </a:avLst>
          </a:prstGeom>
          <a:solidFill>
            <a:srgbClr val="FDF1E7"/>
          </a:solidFill>
          <a:ln w="9525">
            <a:solidFill>
              <a:srgbClr val="F0DCB8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77240" y="1810512"/>
            <a:ext cx="10607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E846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AGENTS.md is to OpenCode what a good onboarding doc is to a new engineer. </a:t>
            </a:r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wouldn't tell a new hire "just build it" with no architecture, conventions, or guardrails. Don't tell your coding agent that either.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3291840"/>
            <a:ext cx="2560320" cy="1828800"/>
          </a:xfrm>
          <a:prstGeom prst="roundRect">
            <a:avLst>
              <a:gd name="adj" fmla="val 3500"/>
            </a:avLst>
          </a:prstGeom>
          <a:solidFill>
            <a:srgbClr val="F5F7FA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58368" y="3474720"/>
            <a:ext cx="234086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E846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write AGENTS.md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658368" y="4160520"/>
            <a:ext cx="2340864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architecture, scaffold rules, guardrails, MCP tools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3108960" y="4023360"/>
            <a:ext cx="237744" cy="274320"/>
          </a:xfrm>
          <a:prstGeom prst="rightArrow">
            <a:avLst/>
          </a:prstGeom>
          <a:solidFill>
            <a:srgbClr val="FF6600"/>
          </a:solidFill>
          <a:ln/>
        </p:spPr>
      </p:sp>
      <p:sp>
        <p:nvSpPr>
          <p:cNvPr id="15" name="Shape 11"/>
          <p:cNvSpPr/>
          <p:nvPr/>
        </p:nvSpPr>
        <p:spPr>
          <a:xfrm>
            <a:off x="3383280" y="3291840"/>
            <a:ext cx="2560320" cy="1828800"/>
          </a:xfrm>
          <a:prstGeom prst="roundRect">
            <a:avLst>
              <a:gd name="adj" fmla="val 3500"/>
            </a:avLst>
          </a:prstGeom>
          <a:solidFill>
            <a:srgbClr val="FDF1E7"/>
          </a:solidFill>
          <a:ln w="9525">
            <a:solidFill>
              <a:srgbClr val="F0DCB8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3493008" y="3474720"/>
            <a:ext cx="234086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E846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OpenCode reads it</a:t>
            </a:r>
            <a:endParaRPr lang="en-US" sz="1350" dirty="0"/>
          </a:p>
        </p:txBody>
      </p:sp>
      <p:sp>
        <p:nvSpPr>
          <p:cNvPr id="17" name="Text 13"/>
          <p:cNvSpPr/>
          <p:nvPr/>
        </p:nvSpPr>
        <p:spPr>
          <a:xfrm>
            <a:off x="3493008" y="4160520"/>
            <a:ext cx="2340864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turn, automatically — it's the standing context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5943600" y="4023360"/>
            <a:ext cx="237744" cy="274320"/>
          </a:xfrm>
          <a:prstGeom prst="rightArrow">
            <a:avLst/>
          </a:prstGeom>
          <a:solidFill>
            <a:srgbClr val="FF6600"/>
          </a:solidFill>
          <a:ln/>
        </p:spPr>
      </p:sp>
      <p:sp>
        <p:nvSpPr>
          <p:cNvPr id="19" name="Shape 15"/>
          <p:cNvSpPr/>
          <p:nvPr/>
        </p:nvSpPr>
        <p:spPr>
          <a:xfrm>
            <a:off x="6217920" y="3291840"/>
            <a:ext cx="2560320" cy="1828800"/>
          </a:xfrm>
          <a:prstGeom prst="roundRect">
            <a:avLst>
              <a:gd name="adj" fmla="val 3500"/>
            </a:avLst>
          </a:prstGeom>
          <a:solidFill>
            <a:srgbClr val="F5F7FA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6327648" y="3474720"/>
            <a:ext cx="234086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E846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prompt in plain English</a:t>
            </a:r>
            <a:endParaRPr lang="en-US" sz="1350" dirty="0"/>
          </a:p>
        </p:txBody>
      </p:sp>
      <p:sp>
        <p:nvSpPr>
          <p:cNvPr id="21" name="Text 17"/>
          <p:cNvSpPr/>
          <p:nvPr/>
        </p:nvSpPr>
        <p:spPr>
          <a:xfrm>
            <a:off x="6327648" y="4160520"/>
            <a:ext cx="2340864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"build the Ingest agent" — it inherits all the rules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8778240" y="4023360"/>
            <a:ext cx="237744" cy="274320"/>
          </a:xfrm>
          <a:prstGeom prst="rightArrow">
            <a:avLst/>
          </a:prstGeom>
          <a:solidFill>
            <a:srgbClr val="FF6600"/>
          </a:solidFill>
          <a:ln/>
        </p:spPr>
      </p:sp>
      <p:sp>
        <p:nvSpPr>
          <p:cNvPr id="23" name="Shape 19"/>
          <p:cNvSpPr/>
          <p:nvPr/>
        </p:nvSpPr>
        <p:spPr>
          <a:xfrm>
            <a:off x="9052560" y="3291840"/>
            <a:ext cx="2560320" cy="1828800"/>
          </a:xfrm>
          <a:prstGeom prst="roundRect">
            <a:avLst>
              <a:gd name="adj" fmla="val 3500"/>
            </a:avLst>
          </a:prstGeom>
          <a:solidFill>
            <a:srgbClr val="FDF1E7"/>
          </a:solidFill>
          <a:ln w="9525">
            <a:solidFill>
              <a:srgbClr val="F0DCB8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9162288" y="3474720"/>
            <a:ext cx="234086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E846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builds to the contract</a:t>
            </a:r>
            <a:endParaRPr lang="en-US" sz="1350" dirty="0"/>
          </a:p>
        </p:txBody>
      </p:sp>
      <p:sp>
        <p:nvSpPr>
          <p:cNvPr id="25" name="Text 21"/>
          <p:cNvSpPr/>
          <p:nvPr/>
        </p:nvSpPr>
        <p:spPr>
          <a:xfrm>
            <a:off x="9162288" y="4160520"/>
            <a:ext cx="2340864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scaffolded + guardrailed by construction, not by luck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548640" y="52578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E7C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contract once. Every build step inherits it. That is why we write AGENTS.md before any code.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406640" cy="6858000"/>
          </a:xfrm>
          <a:prstGeom prst="rect">
            <a:avLst/>
          </a:prstGeom>
          <a:solidFill>
            <a:srgbClr val="E8460E"/>
          </a:solidFill>
          <a:ln/>
        </p:spPr>
      </p:sp>
      <p:sp>
        <p:nvSpPr>
          <p:cNvPr id="3" name="Shape 1"/>
          <p:cNvSpPr/>
          <p:nvPr/>
        </p:nvSpPr>
        <p:spPr>
          <a:xfrm>
            <a:off x="5394960" y="0"/>
            <a:ext cx="2011680" cy="6858000"/>
          </a:xfrm>
          <a:prstGeom prst="rect">
            <a:avLst/>
          </a:prstGeom>
          <a:solidFill>
            <a:srgbClr val="FF6600">
              <a:alpha val="70000"/>
            </a:srgbClr>
          </a:solidFill>
          <a:ln/>
        </p:spPr>
      </p:sp>
      <p:pic>
        <p:nvPicPr>
          <p:cNvPr id="4" name="Image 0" descr="unext_white_lock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2194560" cy="457200"/>
          </a:xfrm>
          <a:prstGeom prst="rect">
            <a:avLst/>
          </a:prstGeom>
        </p:spPr>
      </p:pic>
      <p:pic>
        <p:nvPicPr>
          <p:cNvPr id="5" name="Image 1" descr="unext_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502920"/>
            <a:ext cx="457200" cy="6858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" y="251460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E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</a:t>
            </a:r>
            <a:endParaRPr lang="en-US" sz="1400" dirty="0"/>
          </a:p>
        </p:txBody>
      </p:sp>
      <p:sp>
        <p:nvSpPr>
          <p:cNvPr id="7" name="Text 3"/>
          <p:cNvSpPr/>
          <p:nvPr/>
        </p:nvSpPr>
        <p:spPr>
          <a:xfrm>
            <a:off x="548640" y="2880360"/>
            <a:ext cx="64922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Structure — 12 Sections</a:t>
            </a:r>
            <a:endParaRPr lang="en-US" sz="3200" dirty="0"/>
          </a:p>
        </p:txBody>
      </p:sp>
      <p:sp>
        <p:nvSpPr>
          <p:cNvPr id="8" name="Shape 4"/>
          <p:cNvSpPr/>
          <p:nvPr/>
        </p:nvSpPr>
        <p:spPr>
          <a:xfrm>
            <a:off x="566928" y="4343400"/>
            <a:ext cx="2926080" cy="0"/>
          </a:xfrm>
          <a:prstGeom prst="line">
            <a:avLst/>
          </a:prstGeom>
          <a:noFill/>
          <a:ln w="19050">
            <a:solidFill>
              <a:srgbClr val="FFD9C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772400" y="2880360"/>
            <a:ext cx="39319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complete AGENTS.md for this programme has twelve sections. Each one tells the coding agent something it must not guess.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46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45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12 Sections at a Glance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298448"/>
            <a:ext cx="11064240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pic>
        <p:nvPicPr>
          <p:cNvPr id="5" name="Image 0" descr="unext_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365760"/>
            <a:ext cx="329184" cy="49377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6400800"/>
            <a:ext cx="9418320" cy="0"/>
          </a:xfrm>
          <a:prstGeom prst="line">
            <a:avLst/>
          </a:prstGeom>
          <a:noFill/>
          <a:ln w="9525">
            <a:solidFill>
              <a:srgbClr val="F0DCB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6437376"/>
            <a:ext cx="9326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76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content and the program approach is strictly confidential. It is strictly forbidden to share any part of this program design approach with any third party</a:t>
            </a:r>
            <a:endParaRPr lang="en-US" sz="700" dirty="0"/>
          </a:p>
        </p:txBody>
      </p:sp>
      <p:pic>
        <p:nvPicPr>
          <p:cNvPr id="8" name="Image 1" descr="unext_dark_lock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5560" y="6419088"/>
            <a:ext cx="1417320" cy="301752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48640" y="1371600"/>
            <a:ext cx="3657600" cy="393192"/>
          </a:xfrm>
          <a:prstGeom prst="rect">
            <a:avLst/>
          </a:prstGeom>
          <a:solidFill>
            <a:srgbClr val="F5F7FA"/>
          </a:solidFill>
          <a:ln w="6350">
            <a:solidFill>
              <a:srgbClr val="D7DEE8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658368" y="1371600"/>
            <a:ext cx="347472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46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Project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4206240" y="1371600"/>
            <a:ext cx="7406640" cy="393192"/>
          </a:xfrm>
          <a:prstGeom prst="rect">
            <a:avLst/>
          </a:prstGeom>
          <a:solidFill>
            <a:srgbClr val="F5F7FA"/>
          </a:solidFill>
          <a:ln w="6350">
            <a:solidFill>
              <a:srgbClr val="D7DEE8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4343400" y="1371600"/>
            <a:ext cx="72237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one-line goal + definition of done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1764792"/>
            <a:ext cx="365760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8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58368" y="1764792"/>
            <a:ext cx="347472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46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Tech stack &amp; runtime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4206240" y="1764792"/>
            <a:ext cx="740664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8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4343400" y="1764792"/>
            <a:ext cx="72237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Python, uv, FastAPI, the LiteLLM gateway, the coding agent, secrets rule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48640" y="2157984"/>
            <a:ext cx="3657600" cy="393192"/>
          </a:xfrm>
          <a:prstGeom prst="rect">
            <a:avLst/>
          </a:prstGeom>
          <a:solidFill>
            <a:srgbClr val="F5F7FA"/>
          </a:solidFill>
          <a:ln w="6350">
            <a:solidFill>
              <a:srgbClr val="D7DEE8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58368" y="2157984"/>
            <a:ext cx="347472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46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Golden rules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4206240" y="2157984"/>
            <a:ext cx="7406640" cy="393192"/>
          </a:xfrm>
          <a:prstGeom prst="rect">
            <a:avLst/>
          </a:prstGeom>
          <a:solidFill>
            <a:srgbClr val="F5F7FA"/>
          </a:solidFill>
          <a:ln w="6350">
            <a:solidFill>
              <a:srgbClr val="D7DEE8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4343400" y="2157984"/>
            <a:ext cx="72237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Build-first, never blind-accept, the 6-step cycle, no secrets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548640" y="2551176"/>
            <a:ext cx="365760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8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658368" y="2551176"/>
            <a:ext cx="347472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46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Architecture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4206240" y="2551176"/>
            <a:ext cx="740664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8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4343400" y="2551176"/>
            <a:ext cx="72237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Orchestrator + agents + typed hand-offs + bound the loop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548640" y="2944368"/>
            <a:ext cx="3657600" cy="393192"/>
          </a:xfrm>
          <a:prstGeom prst="rect">
            <a:avLst/>
          </a:prstGeom>
          <a:solidFill>
            <a:srgbClr val="F5F7FA"/>
          </a:solidFill>
          <a:ln w="6350">
            <a:solidFill>
              <a:srgbClr val="D7DEE8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58368" y="2944368"/>
            <a:ext cx="347472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46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· The 10-point scaffold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4206240" y="2944368"/>
            <a:ext cx="7406640" cy="393192"/>
          </a:xfrm>
          <a:prstGeom prst="rect">
            <a:avLst/>
          </a:prstGeom>
          <a:solidFill>
            <a:srgbClr val="F5F7FA"/>
          </a:solidFill>
          <a:ln w="6350">
            <a:solidFill>
              <a:srgbClr val="D7DEE8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4343400" y="2944368"/>
            <a:ext cx="72237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non-negotiable harness code must pass by construction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548640" y="3337560"/>
            <a:ext cx="365760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8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658368" y="3337560"/>
            <a:ext cx="347472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46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· Guardrails (4 layers)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4206240" y="3337560"/>
            <a:ext cx="740664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8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4343400" y="3337560"/>
            <a:ext cx="72237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each layer sits + what it checks for THIS use case</a:t>
            </a:r>
            <a:endParaRPr lang="en-US" sz="1100" dirty="0"/>
          </a:p>
        </p:txBody>
      </p:sp>
      <p:sp>
        <p:nvSpPr>
          <p:cNvPr id="33" name="Shape 29"/>
          <p:cNvSpPr/>
          <p:nvPr/>
        </p:nvSpPr>
        <p:spPr>
          <a:xfrm>
            <a:off x="548640" y="3730752"/>
            <a:ext cx="3657600" cy="393192"/>
          </a:xfrm>
          <a:prstGeom prst="rect">
            <a:avLst/>
          </a:prstGeom>
          <a:solidFill>
            <a:srgbClr val="F5F7FA"/>
          </a:solidFill>
          <a:ln w="6350">
            <a:solidFill>
              <a:srgbClr val="D7DEE8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658368" y="3730752"/>
            <a:ext cx="347472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46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· MCP server requirements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4206240" y="3730752"/>
            <a:ext cx="7406640" cy="393192"/>
          </a:xfrm>
          <a:prstGeom prst="rect">
            <a:avLst/>
          </a:prstGeom>
          <a:solidFill>
            <a:srgbClr val="F5F7FA"/>
          </a:solidFill>
          <a:ln w="6350">
            <a:solidFill>
              <a:srgbClr val="D7DEE8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4343400" y="3730752"/>
            <a:ext cx="72237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tools to expose + auth + rate limit + audit + validation</a:t>
            </a:r>
            <a:endParaRPr lang="en-US" sz="1100" dirty="0"/>
          </a:p>
        </p:txBody>
      </p:sp>
      <p:sp>
        <p:nvSpPr>
          <p:cNvPr id="37" name="Shape 33"/>
          <p:cNvSpPr/>
          <p:nvPr/>
        </p:nvSpPr>
        <p:spPr>
          <a:xfrm>
            <a:off x="548640" y="4123944"/>
            <a:ext cx="365760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8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658368" y="4123944"/>
            <a:ext cx="347472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46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· Project layout</a:t>
            </a:r>
            <a:endParaRPr lang="en-US" sz="1150" dirty="0"/>
          </a:p>
        </p:txBody>
      </p:sp>
      <p:sp>
        <p:nvSpPr>
          <p:cNvPr id="39" name="Shape 35"/>
          <p:cNvSpPr/>
          <p:nvPr/>
        </p:nvSpPr>
        <p:spPr>
          <a:xfrm>
            <a:off x="4206240" y="4123944"/>
            <a:ext cx="740664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8"/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4343400" y="4123944"/>
            <a:ext cx="72237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hexagonal structure that keeps the core pure</a:t>
            </a:r>
            <a:endParaRPr lang="en-US" sz="1100" dirty="0"/>
          </a:p>
        </p:txBody>
      </p:sp>
      <p:sp>
        <p:nvSpPr>
          <p:cNvPr id="41" name="Shape 37"/>
          <p:cNvSpPr/>
          <p:nvPr/>
        </p:nvSpPr>
        <p:spPr>
          <a:xfrm>
            <a:off x="548640" y="4517136"/>
            <a:ext cx="3657600" cy="393192"/>
          </a:xfrm>
          <a:prstGeom prst="rect">
            <a:avLst/>
          </a:prstGeom>
          <a:solidFill>
            <a:srgbClr val="F5F7FA"/>
          </a:solidFill>
          <a:ln w="6350">
            <a:solidFill>
              <a:srgbClr val="D7DEE8"/>
            </a:solidFill>
            <a:prstDash val="solid"/>
          </a:ln>
        </p:spPr>
      </p:sp>
      <p:sp>
        <p:nvSpPr>
          <p:cNvPr id="42" name="Text 38"/>
          <p:cNvSpPr/>
          <p:nvPr/>
        </p:nvSpPr>
        <p:spPr>
          <a:xfrm>
            <a:off x="658368" y="4517136"/>
            <a:ext cx="347472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46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· Commands</a:t>
            </a:r>
            <a:endParaRPr lang="en-US" sz="1150" dirty="0"/>
          </a:p>
        </p:txBody>
      </p:sp>
      <p:sp>
        <p:nvSpPr>
          <p:cNvPr id="43" name="Shape 39"/>
          <p:cNvSpPr/>
          <p:nvPr/>
        </p:nvSpPr>
        <p:spPr>
          <a:xfrm>
            <a:off x="4206240" y="4517136"/>
            <a:ext cx="7406640" cy="393192"/>
          </a:xfrm>
          <a:prstGeom prst="rect">
            <a:avLst/>
          </a:prstGeom>
          <a:solidFill>
            <a:srgbClr val="F5F7FA"/>
          </a:solidFill>
          <a:ln w="6350">
            <a:solidFill>
              <a:srgbClr val="D7DEE8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4343400" y="4517136"/>
            <a:ext cx="72237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/ run / test / guardrail self-test</a:t>
            </a:r>
            <a:endParaRPr lang="en-US" sz="1100" dirty="0"/>
          </a:p>
        </p:txBody>
      </p:sp>
      <p:sp>
        <p:nvSpPr>
          <p:cNvPr id="45" name="Shape 41"/>
          <p:cNvSpPr/>
          <p:nvPr/>
        </p:nvSpPr>
        <p:spPr>
          <a:xfrm>
            <a:off x="548640" y="4910328"/>
            <a:ext cx="365760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8"/>
            </a:solidFill>
            <a:prstDash val="solid"/>
          </a:ln>
        </p:spPr>
      </p:sp>
      <p:sp>
        <p:nvSpPr>
          <p:cNvPr id="46" name="Text 42"/>
          <p:cNvSpPr/>
          <p:nvPr/>
        </p:nvSpPr>
        <p:spPr>
          <a:xfrm>
            <a:off x="658368" y="4910328"/>
            <a:ext cx="347472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46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· Definition of Done</a:t>
            </a:r>
            <a:endParaRPr lang="en-US" sz="1150" dirty="0"/>
          </a:p>
        </p:txBody>
      </p:sp>
      <p:sp>
        <p:nvSpPr>
          <p:cNvPr id="47" name="Shape 43"/>
          <p:cNvSpPr/>
          <p:nvPr/>
        </p:nvSpPr>
        <p:spPr>
          <a:xfrm>
            <a:off x="4206240" y="4910328"/>
            <a:ext cx="740664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8"/>
            </a:solidFill>
            <a:prstDash val="solid"/>
          </a:ln>
        </p:spPr>
      </p:sp>
      <p:sp>
        <p:nvSpPr>
          <p:cNvPr id="48" name="Text 44"/>
          <p:cNvSpPr/>
          <p:nvPr/>
        </p:nvSpPr>
        <p:spPr>
          <a:xfrm>
            <a:off x="4343400" y="4910328"/>
            <a:ext cx="72237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session deliverable + the 🔒 red-team check + README current</a:t>
            </a:r>
            <a:endParaRPr lang="en-US" sz="1100" dirty="0"/>
          </a:p>
        </p:txBody>
      </p:sp>
      <p:sp>
        <p:nvSpPr>
          <p:cNvPr id="49" name="Shape 45"/>
          <p:cNvSpPr/>
          <p:nvPr/>
        </p:nvSpPr>
        <p:spPr>
          <a:xfrm>
            <a:off x="548640" y="5303520"/>
            <a:ext cx="3657600" cy="393192"/>
          </a:xfrm>
          <a:prstGeom prst="rect">
            <a:avLst/>
          </a:prstGeom>
          <a:solidFill>
            <a:srgbClr val="F5F7FA"/>
          </a:solidFill>
          <a:ln w="6350">
            <a:solidFill>
              <a:srgbClr val="D7DEE8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658368" y="5303520"/>
            <a:ext cx="347472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46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· Do / Don't</a:t>
            </a:r>
            <a:endParaRPr lang="en-US" sz="1150" dirty="0"/>
          </a:p>
        </p:txBody>
      </p:sp>
      <p:sp>
        <p:nvSpPr>
          <p:cNvPr id="51" name="Shape 47"/>
          <p:cNvSpPr/>
          <p:nvPr/>
        </p:nvSpPr>
        <p:spPr>
          <a:xfrm>
            <a:off x="4206240" y="5303520"/>
            <a:ext cx="7406640" cy="393192"/>
          </a:xfrm>
          <a:prstGeom prst="rect">
            <a:avLst/>
          </a:prstGeom>
          <a:solidFill>
            <a:srgbClr val="F5F7FA"/>
          </a:solidFill>
          <a:ln w="6350">
            <a:solidFill>
              <a:srgbClr val="D7DEE8"/>
            </a:solidFill>
            <a:prstDash val="solid"/>
          </a:ln>
        </p:spPr>
      </p:sp>
      <p:sp>
        <p:nvSpPr>
          <p:cNvPr id="52" name="Text 48"/>
          <p:cNvSpPr/>
          <p:nvPr/>
        </p:nvSpPr>
        <p:spPr>
          <a:xfrm>
            <a:off x="4343400" y="5303520"/>
            <a:ext cx="72237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Explicit guardrails for the coding agent</a:t>
            </a:r>
            <a:endParaRPr lang="en-US" sz="1100" dirty="0"/>
          </a:p>
        </p:txBody>
      </p:sp>
      <p:sp>
        <p:nvSpPr>
          <p:cNvPr id="53" name="Shape 49"/>
          <p:cNvSpPr/>
          <p:nvPr/>
        </p:nvSpPr>
        <p:spPr>
          <a:xfrm>
            <a:off x="548640" y="5696712"/>
            <a:ext cx="365760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8"/>
            </a:solidFill>
            <a:prstDash val="solid"/>
          </a:ln>
        </p:spPr>
      </p:sp>
      <p:sp>
        <p:nvSpPr>
          <p:cNvPr id="54" name="Text 50"/>
          <p:cNvSpPr/>
          <p:nvPr/>
        </p:nvSpPr>
        <p:spPr>
          <a:xfrm>
            <a:off x="658368" y="5696712"/>
            <a:ext cx="347472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46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· Documentation (README.md)</a:t>
            </a:r>
            <a:endParaRPr lang="en-US" sz="1150" dirty="0"/>
          </a:p>
        </p:txBody>
      </p:sp>
      <p:sp>
        <p:nvSpPr>
          <p:cNvPr id="55" name="Shape 51"/>
          <p:cNvSpPr/>
          <p:nvPr/>
        </p:nvSpPr>
        <p:spPr>
          <a:xfrm>
            <a:off x="4206240" y="5696712"/>
            <a:ext cx="740664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8"/>
            </a:solidFill>
            <a:prstDash val="solid"/>
          </a:ln>
        </p:spPr>
      </p:sp>
      <p:sp>
        <p:nvSpPr>
          <p:cNvPr id="56" name="Text 52"/>
          <p:cNvSpPr/>
          <p:nvPr/>
        </p:nvSpPr>
        <p:spPr>
          <a:xfrm>
            <a:off x="4343400" y="5696712"/>
            <a:ext cx="72237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a README and keep it in sync with the code, every step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46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5 · THE HEART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45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10-Point Scaffold — Non-Negotiable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298448"/>
            <a:ext cx="11064240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pic>
        <p:nvPicPr>
          <p:cNvPr id="5" name="Image 0" descr="unext_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365760"/>
            <a:ext cx="329184" cy="49377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6400800"/>
            <a:ext cx="9418320" cy="0"/>
          </a:xfrm>
          <a:prstGeom prst="line">
            <a:avLst/>
          </a:prstGeom>
          <a:noFill/>
          <a:ln w="9525">
            <a:solidFill>
              <a:srgbClr val="F0DCB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6437376"/>
            <a:ext cx="9326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76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content and the program approach is strictly confidential. It is strictly forbidden to share any part of this program design approach with any third party</a:t>
            </a:r>
            <a:endParaRPr lang="en-US" sz="700" dirty="0"/>
          </a:p>
        </p:txBody>
      </p:sp>
      <p:pic>
        <p:nvPicPr>
          <p:cNvPr id="8" name="Image 1" descr="unext_dark_lock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5560" y="6419088"/>
            <a:ext cx="1417320" cy="30175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48640" y="1463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the harness. Tell the agent to make all ten true by construction — code that fails a check is not done: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548640" y="1965960"/>
            <a:ext cx="5440680" cy="2834640"/>
          </a:xfrm>
          <a:prstGeom prst="roundRect">
            <a:avLst>
              <a:gd name="adj" fmla="val 2258"/>
            </a:avLst>
          </a:prstGeom>
          <a:solidFill>
            <a:srgbClr val="F5F7FA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77240" y="2148840"/>
            <a:ext cx="49834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ts val="17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b="1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Type hints on every boundary</a:t>
            </a:r>
            <a:endParaRPr lang="en-US" sz="1250" dirty="0"/>
          </a:p>
          <a:p>
            <a:pPr marL="203200" indent="-203200">
              <a:lnSpc>
                <a:spcPts val="17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LLM output → Pydantic v2 strict model</a:t>
            </a:r>
            <a:endParaRPr lang="en-US" sz="1250" dirty="0"/>
          </a:p>
          <a:p>
            <a:pPr marL="203200" indent="-203200">
              <a:lnSpc>
                <a:spcPts val="17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Async I/O — never block the event loop</a:t>
            </a:r>
            <a:endParaRPr lang="en-US" sz="1250" dirty="0"/>
          </a:p>
          <a:p>
            <a:pPr marL="203200" indent="-203200">
              <a:lnSpc>
                <a:spcPts val="17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Typed resilient client (retry + jitter)</a:t>
            </a:r>
            <a:endParaRPr lang="en-US" sz="1250" dirty="0"/>
          </a:p>
          <a:p>
            <a:pPr marL="203200" indent="-203200">
              <a:lnSpc>
                <a:spcPts val="17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· Provider behind a port, not in the core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172200" y="1965960"/>
            <a:ext cx="5440680" cy="2834640"/>
          </a:xfrm>
          <a:prstGeom prst="roundRect">
            <a:avLst>
              <a:gd name="adj" fmla="val 2258"/>
            </a:avLst>
          </a:prstGeom>
          <a:solidFill>
            <a:srgbClr val="F5F7FA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400800" y="2148840"/>
            <a:ext cx="49834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ts val="17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b="1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· Tool-call args validated BEFORE execution</a:t>
            </a:r>
            <a:endParaRPr lang="en-US" sz="1250" dirty="0"/>
          </a:p>
          <a:p>
            <a:pPr marL="203200" indent="-203200">
              <a:lnSpc>
                <a:spcPts val="17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· Destructive tools: business-rule + auth guards</a:t>
            </a:r>
            <a:endParaRPr lang="en-US" sz="1250" dirty="0"/>
          </a:p>
          <a:p>
            <a:pPr marL="203200" indent="-203200">
              <a:lnSpc>
                <a:spcPts val="17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· FastAPI request AND response models</a:t>
            </a:r>
            <a:endParaRPr lang="en-US" sz="1250" dirty="0"/>
          </a:p>
          <a:p>
            <a:pPr marL="203200" indent="-203200">
              <a:lnSpc>
                <a:spcPts val="17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· Contract tests as a CI gate (mock the LLM)</a:t>
            </a:r>
            <a:endParaRPr lang="en-US" sz="1250" dirty="0"/>
          </a:p>
          <a:p>
            <a:pPr marL="203200" indent="-203200">
              <a:lnSpc>
                <a:spcPts val="17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· Pure core — no SDK / SQL / framework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48640" y="4937760"/>
            <a:ext cx="11064240" cy="960120"/>
          </a:xfrm>
          <a:prstGeom prst="roundRect">
            <a:avLst>
              <a:gd name="adj" fmla="val 6667"/>
            </a:avLst>
          </a:prstGeom>
          <a:solidFill>
            <a:srgbClr val="FDF1E7"/>
          </a:solidFill>
          <a:ln w="9525">
            <a:solidFill>
              <a:srgbClr val="F0DCB8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777240" y="5047488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E846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one-line gate: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all ten tick, the harness is up — the agent can build fast without a collapse. Treat the model as a flaky vendor; the harness is the stable thing you ship.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46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6 · GUARDRAILS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45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Four Guardrail Layers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298448"/>
            <a:ext cx="11064240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pic>
        <p:nvPicPr>
          <p:cNvPr id="5" name="Image 0" descr="unext_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365760"/>
            <a:ext cx="329184" cy="49377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6400800"/>
            <a:ext cx="9418320" cy="0"/>
          </a:xfrm>
          <a:prstGeom prst="line">
            <a:avLst/>
          </a:prstGeom>
          <a:noFill/>
          <a:ln w="9525">
            <a:solidFill>
              <a:srgbClr val="F0DCB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6437376"/>
            <a:ext cx="9326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76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content and the program approach is strictly confidential. It is strictly forbidden to share any part of this program design approach with any third party</a:t>
            </a:r>
            <a:endParaRPr lang="en-US" sz="700" dirty="0"/>
          </a:p>
        </p:txBody>
      </p:sp>
      <p:pic>
        <p:nvPicPr>
          <p:cNvPr id="8" name="Image 1" descr="unext_dark_lock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5560" y="6419088"/>
            <a:ext cx="1417320" cy="30175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48640" y="1463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all four in AGENTS.md, and say what each checks for YOUR use case — the agent wires them at every seam: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548640" y="1965960"/>
            <a:ext cx="1106424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31520" y="2075688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46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 · Input (pre-hook)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3566160" y="2075688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6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the agent reasons</a:t>
            </a:r>
            <a:endParaRPr lang="en-US" sz="1150" dirty="0"/>
          </a:p>
        </p:txBody>
      </p:sp>
      <p:sp>
        <p:nvSpPr>
          <p:cNvPr id="13" name="Text 9"/>
          <p:cNvSpPr/>
          <p:nvPr/>
        </p:nvSpPr>
        <p:spPr>
          <a:xfrm>
            <a:off x="6583680" y="2075688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 + classify input; treat tool/doc content as untrusted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548640" y="2926080"/>
            <a:ext cx="11064240" cy="868680"/>
          </a:xfrm>
          <a:prstGeom prst="roundRect">
            <a:avLst>
              <a:gd name="adj" fmla="val 7368"/>
            </a:avLst>
          </a:prstGeom>
          <a:solidFill>
            <a:srgbClr val="F5F7FA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731520" y="3035808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6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 · Tool-call interceptor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3566160" y="3035808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6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wraps every MCP tool call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6583680" y="3035808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 check + call budget + tool allowlist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548640" y="3886200"/>
            <a:ext cx="1106424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731520" y="3995928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7C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 · Output (post-hook)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3566160" y="3995928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6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output acts / returns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6583680" y="3995928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PII / secret / brand / factual scan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548640" y="4846320"/>
            <a:ext cx="11064240" cy="868680"/>
          </a:xfrm>
          <a:prstGeom prst="roundRect">
            <a:avLst>
              <a:gd name="adj" fmla="val 7368"/>
            </a:avLst>
          </a:prstGeom>
          <a:solidFill>
            <a:srgbClr val="F5F7FA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731520" y="4956048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45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 · Governance gate</a:t>
            </a:r>
            <a:endParaRPr lang="en-US" sz="1300" dirty="0"/>
          </a:p>
        </p:txBody>
      </p:sp>
      <p:sp>
        <p:nvSpPr>
          <p:cNvPr id="24" name="Text 20"/>
          <p:cNvSpPr/>
          <p:nvPr/>
        </p:nvSpPr>
        <p:spPr>
          <a:xfrm>
            <a:off x="3566160" y="4956048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6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a consequential action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6583680" y="4956048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approval + full audit log</a:t>
            </a:r>
            <a:endParaRPr lang="en-US" sz="1150" dirty="0"/>
          </a:p>
        </p:txBody>
      </p:sp>
      <p:sp>
        <p:nvSpPr>
          <p:cNvPr id="26" name="Text 22"/>
          <p:cNvSpPr/>
          <p:nvPr/>
        </p:nvSpPr>
        <p:spPr>
          <a:xfrm>
            <a:off x="548640" y="59436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0E7C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Defence in depth: no single layer is trusted alone. All four compose around every agent.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46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7 · MCP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45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 Build Requirements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298448"/>
            <a:ext cx="11064240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pic>
        <p:nvPicPr>
          <p:cNvPr id="5" name="Image 0" descr="unext_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365760"/>
            <a:ext cx="329184" cy="49377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6400800"/>
            <a:ext cx="9418320" cy="0"/>
          </a:xfrm>
          <a:prstGeom prst="line">
            <a:avLst/>
          </a:prstGeom>
          <a:noFill/>
          <a:ln w="9525">
            <a:solidFill>
              <a:srgbClr val="F0DCB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6437376"/>
            <a:ext cx="9326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76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content and the program approach is strictly confidential. It is strictly forbidden to share any part of this program design approach with any third party</a:t>
            </a:r>
            <a:endParaRPr lang="en-US" sz="700" dirty="0"/>
          </a:p>
        </p:txBody>
      </p:sp>
      <p:pic>
        <p:nvPicPr>
          <p:cNvPr id="8" name="Image 1" descr="unext_dark_lock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5560" y="6419088"/>
            <a:ext cx="1417320" cy="301752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48640" y="1554480"/>
            <a:ext cx="5440680" cy="4480560"/>
          </a:xfrm>
          <a:prstGeom prst="roundRect">
            <a:avLst>
              <a:gd name="adj" fmla="val 1429"/>
            </a:avLst>
          </a:prstGeom>
          <a:solidFill>
            <a:srgbClr val="F5F7FA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77240" y="1737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46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specify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777240" y="2212848"/>
            <a:ext cx="498348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b="1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transport (FastAPI) — build for deploy from day one</a:t>
            </a:r>
            <a:endParaRPr lang="en-US" sz="1200" dirty="0"/>
          </a:p>
          <a:p>
            <a:pPr marL="203200" indent="-2032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 every tool the agents may call</a:t>
            </a:r>
            <a:endParaRPr lang="en-US" sz="1200" dirty="0"/>
          </a:p>
          <a:p>
            <a:pPr marL="203200" indent="-2032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which tools are read-only vs destructive</a:t>
            </a:r>
            <a:endParaRPr lang="en-US" sz="1200" dirty="0"/>
          </a:p>
          <a:p>
            <a:pPr marL="203200" indent="-2032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tool: typed strict request/response</a:t>
            </a:r>
            <a:endParaRPr lang="en-US" sz="1200" dirty="0"/>
          </a:p>
          <a:p>
            <a:pPr marL="203200" indent="-2032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on every call · rate limit per caller · audit log</a:t>
            </a:r>
            <a:endParaRPr lang="en-US" sz="1200" dirty="0"/>
          </a:p>
          <a:p>
            <a:pPr marL="203200" indent="-2032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Validated tool calls (check 6) + guarded destructive tools (check 7)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172200" y="1554480"/>
            <a:ext cx="5440680" cy="4480560"/>
          </a:xfrm>
          <a:prstGeom prst="roundRect">
            <a:avLst>
              <a:gd name="adj" fmla="val 1429"/>
            </a:avLst>
          </a:prstGeom>
          <a:solidFill>
            <a:srgbClr val="FDF1E7"/>
          </a:solidFill>
          <a:ln w="9525">
            <a:solidFill>
              <a:srgbClr val="F0DCB8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400800" y="1737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45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— a tool entry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6400800" y="2194560"/>
            <a:ext cx="4983480" cy="3657600"/>
          </a:xfrm>
          <a:prstGeom prst="roundRect">
            <a:avLst>
              <a:gd name="adj" fmla="val 1500"/>
            </a:avLst>
          </a:prstGeom>
          <a:solidFill>
            <a:srgbClr val="13212B"/>
          </a:solidFill>
          <a:ln w="9525">
            <a:solidFill>
              <a:srgbClr val="2C3E4A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537960" y="2267712"/>
            <a:ext cx="4709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7FA8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AGENTS.md — §7 tools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6537960" y="2523744"/>
            <a:ext cx="4709160" cy="3236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E7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 to expose (CS1):</a:t>
            </a:r>
            <a:endParaRPr lang="en-US" sz="1050" dirty="0"/>
          </a:p>
          <a:p>
            <a:pPr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E7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file_reader       (read-only)</a:t>
            </a:r>
            <a:endParaRPr lang="en-US" sz="1050" dirty="0"/>
          </a:p>
          <a:p>
            <a:pPr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E7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template_library  (read-only)</a:t>
            </a:r>
            <a:endParaRPr lang="en-US" sz="1050" dirty="0"/>
          </a:p>
          <a:p>
            <a:pPr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E7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version_control   (read-only;</a:t>
            </a:r>
            <a:endParaRPr lang="en-US" sz="1050" dirty="0"/>
          </a:p>
          <a:p>
            <a:pPr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E7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 writes without L4)</a:t>
            </a:r>
            <a:endParaRPr lang="en-US" sz="1050" dirty="0"/>
          </a:p>
          <a:p>
            <a:pPr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E7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approval_workflow</a:t>
            </a:r>
            <a:endParaRPr lang="en-US" sz="1050" dirty="0"/>
          </a:p>
          <a:p>
            <a:pPr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E7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DESTRUCTIVE -&gt; auth +</a:t>
            </a:r>
            <a:endParaRPr lang="en-US" sz="1050" dirty="0"/>
          </a:p>
          <a:p>
            <a:pPr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E7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human confirmation (check 7)</a:t>
            </a:r>
            <a:endParaRPr lang="en-US" sz="1050" dirty="0"/>
          </a:p>
          <a:p>
            <a:pPr indent="0" marL="0">
              <a:lnSpc>
                <a:spcPts val="1470"/>
              </a:lnSpc>
              <a:buNone/>
            </a:pPr>
            <a:endParaRPr lang="en-US" sz="1050" dirty="0"/>
          </a:p>
          <a:p>
            <a:pPr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E7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 tool: typed I/O, auth,</a:t>
            </a:r>
            <a:endParaRPr lang="en-US" sz="1050" dirty="0"/>
          </a:p>
          <a:p>
            <a:pPr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E7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rate limit, audit log.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46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12 · DOCUMENTATION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45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README.md — Document What You Build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298448"/>
            <a:ext cx="11064240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pic>
        <p:nvPicPr>
          <p:cNvPr id="5" name="Image 0" descr="unext_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365760"/>
            <a:ext cx="329184" cy="49377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6400800"/>
            <a:ext cx="9418320" cy="0"/>
          </a:xfrm>
          <a:prstGeom prst="line">
            <a:avLst/>
          </a:prstGeom>
          <a:noFill/>
          <a:ln w="9525">
            <a:solidFill>
              <a:srgbClr val="F0DCB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6437376"/>
            <a:ext cx="9326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76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content and the program approach is strictly confidential. It is strictly forbidden to share any part of this program design approach with any third party</a:t>
            </a:r>
            <a:endParaRPr lang="en-US" sz="700" dirty="0"/>
          </a:p>
        </p:txBody>
      </p:sp>
      <p:pic>
        <p:nvPicPr>
          <p:cNvPr id="8" name="Image 1" descr="unext_dark_lock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5560" y="6419088"/>
            <a:ext cx="1417320" cy="301752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48640" y="1554480"/>
            <a:ext cx="5440680" cy="4480560"/>
          </a:xfrm>
          <a:prstGeom prst="roundRect">
            <a:avLst>
              <a:gd name="adj" fmla="val 1429"/>
            </a:avLst>
          </a:prstGeom>
          <a:solidFill>
            <a:srgbClr val="F5F7FA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77240" y="1737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46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rule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777240" y="2212848"/>
            <a:ext cx="498348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b="1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a README.md at the project root — and keep it updated</a:t>
            </a:r>
            <a:endParaRPr lang="en-US" sz="1250" dirty="0"/>
          </a:p>
          <a:p>
            <a:pPr marL="203200" indent="-2032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OpenCode must update the matching README section whenever it creates or changes a component</a:t>
            </a:r>
            <a:endParaRPr lang="en-US" sz="1250" dirty="0"/>
          </a:p>
          <a:p>
            <a:pPr marL="203200" indent="-2032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change the code, update the README in the SAME step</a:t>
            </a:r>
            <a:endParaRPr lang="en-US" sz="1250" dirty="0"/>
          </a:p>
          <a:p>
            <a:pPr marL="203200" indent="-2032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stale README is a defect — it's in the Definition of Done</a:t>
            </a:r>
            <a:endParaRPr lang="en-US" sz="1250" dirty="0"/>
          </a:p>
          <a:p>
            <a:pPr marL="203200" indent="-2032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from the provided README_SKELETON.md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172200" y="1554480"/>
            <a:ext cx="5440680" cy="4480560"/>
          </a:xfrm>
          <a:prstGeom prst="roundRect">
            <a:avLst>
              <a:gd name="adj" fmla="val 1429"/>
            </a:avLst>
          </a:prstGeom>
          <a:solidFill>
            <a:srgbClr val="FDF1E7"/>
          </a:solidFill>
          <a:ln w="9525">
            <a:solidFill>
              <a:srgbClr val="F0DCB8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400800" y="1737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45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README must contain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6400800" y="2212848"/>
            <a:ext cx="498348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What this is — one-paragraph overview</a:t>
            </a:r>
            <a:endParaRPr lang="en-US" sz="1150" dirty="0"/>
          </a:p>
          <a:p>
            <a:pPr marL="203200" indent="-2032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Architecture — agents, orchestrator, MCP server, flow</a:t>
            </a:r>
            <a:endParaRPr lang="en-US" sz="1150" dirty="0"/>
          </a:p>
          <a:p>
            <a:pPr marL="203200" indent="-2032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Prerequisites  ·  4 · Setup (uv sync, .env)</a:t>
            </a:r>
            <a:endParaRPr lang="en-US" sz="1150" dirty="0"/>
          </a:p>
          <a:p>
            <a:pPr marL="203200" indent="-2032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· How to run — copy-paste commands</a:t>
            </a:r>
            <a:endParaRPr lang="en-US" sz="1150" dirty="0"/>
          </a:p>
          <a:p>
            <a:pPr marL="203200" indent="-2032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· MCP tools — table: tool · does · read/destructive · gate</a:t>
            </a:r>
            <a:endParaRPr lang="en-US" sz="1150" dirty="0"/>
          </a:p>
          <a:p>
            <a:pPr marL="203200" indent="-2032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· Guardrails — the 4 layers and what each checks</a:t>
            </a:r>
            <a:endParaRPr lang="en-US" sz="1150" dirty="0"/>
          </a:p>
          <a:p>
            <a:pPr marL="203200" indent="-2032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· Env vars  ·  9 · Testing</a:t>
            </a:r>
            <a:endParaRPr lang="en-US" sz="1150" dirty="0"/>
          </a:p>
          <a:p>
            <a:pPr marL="203200" indent="-203200">
              <a:lnSpc>
                <a:spcPts val="15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· Build log — dated list of what's built, updated each session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406640" cy="6858000"/>
          </a:xfrm>
          <a:prstGeom prst="rect">
            <a:avLst/>
          </a:prstGeom>
          <a:solidFill>
            <a:srgbClr val="E8460E"/>
          </a:solidFill>
          <a:ln/>
        </p:spPr>
      </p:sp>
      <p:sp>
        <p:nvSpPr>
          <p:cNvPr id="3" name="Shape 1"/>
          <p:cNvSpPr/>
          <p:nvPr/>
        </p:nvSpPr>
        <p:spPr>
          <a:xfrm>
            <a:off x="5394960" y="0"/>
            <a:ext cx="2011680" cy="6858000"/>
          </a:xfrm>
          <a:prstGeom prst="rect">
            <a:avLst/>
          </a:prstGeom>
          <a:solidFill>
            <a:srgbClr val="FF6600">
              <a:alpha val="70000"/>
            </a:srgbClr>
          </a:solidFill>
          <a:ln/>
        </p:spPr>
      </p:sp>
      <p:pic>
        <p:nvPicPr>
          <p:cNvPr id="4" name="Image 0" descr="unext_white_lock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2194560" cy="457200"/>
          </a:xfrm>
          <a:prstGeom prst="rect">
            <a:avLst/>
          </a:prstGeom>
        </p:spPr>
      </p:pic>
      <p:pic>
        <p:nvPicPr>
          <p:cNvPr id="5" name="Image 1" descr="unext_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502920"/>
            <a:ext cx="457200" cy="6858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" y="251460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E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</a:t>
            </a:r>
            <a:endParaRPr lang="en-US" sz="1400" dirty="0"/>
          </a:p>
        </p:txBody>
      </p:sp>
      <p:sp>
        <p:nvSpPr>
          <p:cNvPr id="7" name="Text 3"/>
          <p:cNvSpPr/>
          <p:nvPr/>
        </p:nvSpPr>
        <p:spPr>
          <a:xfrm>
            <a:off x="548640" y="2880360"/>
            <a:ext cx="64922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Skeleton — Copy This to Start</a:t>
            </a:r>
            <a:endParaRPr lang="en-US" sz="3200" dirty="0"/>
          </a:p>
        </p:txBody>
      </p:sp>
      <p:sp>
        <p:nvSpPr>
          <p:cNvPr id="8" name="Shape 4"/>
          <p:cNvSpPr/>
          <p:nvPr/>
        </p:nvSpPr>
        <p:spPr>
          <a:xfrm>
            <a:off x="566928" y="4343400"/>
            <a:ext cx="2926080" cy="0"/>
          </a:xfrm>
          <a:prstGeom prst="line">
            <a:avLst/>
          </a:prstGeom>
          <a:noFill/>
          <a:ln w="19050">
            <a:solidFill>
              <a:srgbClr val="FFD9C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772400" y="2880360"/>
            <a:ext cx="39319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Blank AGENTS.md + README.md skeletons you fill in per use case. We provide these plus three filled AGENTS.md versions (CS1, CS2, CS3) as a base.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46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SKELETON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45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AGENTS.md Skeleton (1 of 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298448"/>
            <a:ext cx="11064240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pic>
        <p:nvPicPr>
          <p:cNvPr id="5" name="Image 0" descr="unext_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365760"/>
            <a:ext cx="329184" cy="49377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6400800"/>
            <a:ext cx="9418320" cy="0"/>
          </a:xfrm>
          <a:prstGeom prst="line">
            <a:avLst/>
          </a:prstGeom>
          <a:noFill/>
          <a:ln w="9525">
            <a:solidFill>
              <a:srgbClr val="F0DCB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6437376"/>
            <a:ext cx="9326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76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content and the program approach is strictly confidential. It is strictly forbidden to share any part of this program design approach with any third party</a:t>
            </a:r>
            <a:endParaRPr lang="en-US" sz="700" dirty="0"/>
          </a:p>
        </p:txBody>
      </p:sp>
      <p:pic>
        <p:nvPicPr>
          <p:cNvPr id="8" name="Image 1" descr="unext_dark_lock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5560" y="6419088"/>
            <a:ext cx="1417320" cy="301752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48640" y="1508760"/>
            <a:ext cx="11064240" cy="4526280"/>
          </a:xfrm>
          <a:prstGeom prst="roundRect">
            <a:avLst>
              <a:gd name="adj" fmla="val 1212"/>
            </a:avLst>
          </a:prstGeom>
          <a:solidFill>
            <a:srgbClr val="13212B"/>
          </a:solidFill>
          <a:ln w="9525">
            <a:solidFill>
              <a:srgbClr val="2C3E4A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685800" y="1581912"/>
            <a:ext cx="10789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7FA8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AGENTS.md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685800" y="1837944"/>
            <a:ext cx="10789920" cy="4105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E7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AGENTS.md — &lt;USE CASE NAME&gt;</a:t>
            </a:r>
            <a:endParaRPr lang="en-US" sz="1050" dirty="0"/>
          </a:p>
          <a:p>
            <a:pPr indent="0" marL="0">
              <a:lnSpc>
                <a:spcPts val="1470"/>
              </a:lnSpc>
              <a:buNone/>
            </a:pPr>
            <a:endParaRPr lang="en-US" sz="1050" dirty="0"/>
          </a:p>
          <a:p>
            <a:pPr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E7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1. Project</a:t>
            </a:r>
            <a:endParaRPr lang="en-US" sz="1050" dirty="0"/>
          </a:p>
          <a:p>
            <a:pPr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E7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Goal (one line): &lt;what this system does&gt;</a:t>
            </a:r>
            <a:endParaRPr lang="en-US" sz="1050" dirty="0"/>
          </a:p>
          <a:p>
            <a:pPr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E7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Use case: &lt;CS1/CS2/CS3&gt;   Owner: &lt;name&gt;</a:t>
            </a:r>
            <a:endParaRPr lang="en-US" sz="1050" dirty="0"/>
          </a:p>
          <a:p>
            <a:pPr indent="0" marL="0">
              <a:lnSpc>
                <a:spcPts val="1470"/>
              </a:lnSpc>
              <a:buNone/>
            </a:pPr>
            <a:endParaRPr lang="en-US" sz="1050" dirty="0"/>
          </a:p>
          <a:p>
            <a:pPr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E7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2. Tech stack &amp; runtime</a:t>
            </a:r>
            <a:endParaRPr lang="en-US" sz="1050" dirty="0"/>
          </a:p>
          <a:p>
            <a:pPr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E7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Python 3.11 · uv (uv sync --frozen) · FastAPI (async) · &lt;LangGraph/CrewAI&gt;</a:t>
            </a:r>
            <a:endParaRPr lang="en-US" sz="1050" dirty="0"/>
          </a:p>
          <a:p>
            <a:pPr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E7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Runtime model: LiteLLM gateway http://&lt;gateway&gt;:4000/v1  (NO external APIs)</a:t>
            </a:r>
            <a:endParaRPr lang="en-US" sz="1050" dirty="0"/>
          </a:p>
          <a:p>
            <a:pPr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E7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Coding agent: OpenCode + Kimi-K2.5 · Secrets from .env only</a:t>
            </a:r>
            <a:endParaRPr lang="en-US" sz="1050" dirty="0"/>
          </a:p>
          <a:p>
            <a:pPr indent="0" marL="0">
              <a:lnSpc>
                <a:spcPts val="1470"/>
              </a:lnSpc>
              <a:buNone/>
            </a:pPr>
            <a:endParaRPr lang="en-US" sz="1050" dirty="0"/>
          </a:p>
          <a:p>
            <a:pPr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E7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3. Golden rules for the coding agent</a:t>
            </a:r>
            <a:endParaRPr lang="en-US" sz="1050" dirty="0"/>
          </a:p>
          <a:p>
            <a:pPr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E7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Build first · never blind-accept · 6-step cycle · scaffold is non-negotiable</a:t>
            </a:r>
            <a:endParaRPr lang="en-US" sz="1050" dirty="0"/>
          </a:p>
          <a:p>
            <a:pPr indent="0" marL="0">
              <a:lnSpc>
                <a:spcPts val="1470"/>
              </a:lnSpc>
              <a:buNone/>
            </a:pPr>
            <a:endParaRPr lang="en-US" sz="1050" dirty="0"/>
          </a:p>
          <a:p>
            <a:pPr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E7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4. Architecture to build</a:t>
            </a:r>
            <a:endParaRPr lang="en-US" sz="1050" dirty="0"/>
          </a:p>
          <a:p>
            <a:pPr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E7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Orchestrator -&gt; domain agents &lt;list&gt; with typed hand-offs; bound the loop</a:t>
            </a:r>
            <a:endParaRPr lang="en-US" sz="1050" dirty="0"/>
          </a:p>
          <a:p>
            <a:pPr indent="0" marL="0">
              <a:lnSpc>
                <a:spcPts val="1470"/>
              </a:lnSpc>
              <a:buNone/>
            </a:pPr>
            <a:endParaRPr lang="en-US" sz="1050" dirty="0"/>
          </a:p>
          <a:p>
            <a:pPr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E7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5. The 10-point scaffold — MUST pass  (list all ten)</a:t>
            </a:r>
            <a:endParaRPr lang="en-US" sz="1050" dirty="0"/>
          </a:p>
          <a:p>
            <a:pPr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E7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6. Guardrails — the 4 layers  (L1 input · L2 tool · L3 output · L4 gate)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46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SKELETON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45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AGENTS.md Skeleton (2 of 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298448"/>
            <a:ext cx="11064240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pic>
        <p:nvPicPr>
          <p:cNvPr id="5" name="Image 0" descr="unext_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365760"/>
            <a:ext cx="329184" cy="49377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6400800"/>
            <a:ext cx="9418320" cy="0"/>
          </a:xfrm>
          <a:prstGeom prst="line">
            <a:avLst/>
          </a:prstGeom>
          <a:noFill/>
          <a:ln w="9525">
            <a:solidFill>
              <a:srgbClr val="F0DCB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6437376"/>
            <a:ext cx="9326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76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content and the program approach is strictly confidential. It is strictly forbidden to share any part of this program design approach with any third party</a:t>
            </a:r>
            <a:endParaRPr lang="en-US" sz="700" dirty="0"/>
          </a:p>
        </p:txBody>
      </p:sp>
      <p:pic>
        <p:nvPicPr>
          <p:cNvPr id="8" name="Image 1" descr="unext_dark_lock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5560" y="6419088"/>
            <a:ext cx="1417320" cy="301752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48640" y="1508760"/>
            <a:ext cx="11064240" cy="4526280"/>
          </a:xfrm>
          <a:prstGeom prst="roundRect">
            <a:avLst>
              <a:gd name="adj" fmla="val 1212"/>
            </a:avLst>
          </a:prstGeom>
          <a:solidFill>
            <a:srgbClr val="13212B"/>
          </a:solidFill>
          <a:ln w="9525">
            <a:solidFill>
              <a:srgbClr val="2C3E4A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685800" y="1581912"/>
            <a:ext cx="10789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7FA8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AGENTS.md (continued)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685800" y="1837944"/>
            <a:ext cx="10789920" cy="4105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72"/>
              </a:lnSpc>
              <a:buNone/>
            </a:pPr>
            <a:r>
              <a:rPr lang="en-US" sz="980" dirty="0">
                <a:solidFill>
                  <a:srgbClr val="E7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7. MCP server build requirements</a:t>
            </a:r>
            <a:endParaRPr lang="en-US" sz="980" dirty="0"/>
          </a:p>
          <a:p>
            <a:pPr indent="0" marL="0">
              <a:lnSpc>
                <a:spcPts val="1372"/>
              </a:lnSpc>
              <a:buNone/>
            </a:pPr>
            <a:r>
              <a:rPr lang="en-US" sz="980" dirty="0">
                <a:solidFill>
                  <a:srgbClr val="E7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HTTP transport; tools: &lt;list, mark destructive&gt;</a:t>
            </a:r>
            <a:endParaRPr lang="en-US" sz="980" dirty="0"/>
          </a:p>
          <a:p>
            <a:pPr indent="0" marL="0">
              <a:lnSpc>
                <a:spcPts val="1372"/>
              </a:lnSpc>
              <a:buNone/>
            </a:pPr>
            <a:r>
              <a:rPr lang="en-US" sz="980" dirty="0">
                <a:solidFill>
                  <a:srgbClr val="E7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Every tool: typed I/O · auth · rate limit · audit · validated calls</a:t>
            </a:r>
            <a:endParaRPr lang="en-US" sz="980" dirty="0"/>
          </a:p>
          <a:p>
            <a:pPr indent="0" marL="0">
              <a:lnSpc>
                <a:spcPts val="1372"/>
              </a:lnSpc>
              <a:buNone/>
            </a:pPr>
            <a:endParaRPr lang="en-US" sz="980" dirty="0"/>
          </a:p>
          <a:p>
            <a:pPr indent="0" marL="0">
              <a:lnSpc>
                <a:spcPts val="1372"/>
              </a:lnSpc>
              <a:buNone/>
            </a:pPr>
            <a:r>
              <a:rPr lang="en-US" sz="980" dirty="0">
                <a:solidFill>
                  <a:srgbClr val="E7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8. Project layout  (hexagonal — keep the core pure)</a:t>
            </a:r>
            <a:endParaRPr lang="en-US" sz="980" dirty="0"/>
          </a:p>
          <a:p>
            <a:pPr indent="0" marL="0">
              <a:lnSpc>
                <a:spcPts val="1372"/>
              </a:lnSpc>
              <a:buNone/>
            </a:pPr>
            <a:r>
              <a:rPr lang="en-US" sz="980" dirty="0">
                <a:solidFill>
                  <a:srgbClr val="E7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app/core/      PURE: models.py ports.py agents.py guardrails.py</a:t>
            </a:r>
            <a:endParaRPr lang="en-US" sz="980" dirty="0"/>
          </a:p>
          <a:p>
            <a:pPr indent="0" marL="0">
              <a:lnSpc>
                <a:spcPts val="1372"/>
              </a:lnSpc>
              <a:buNone/>
            </a:pPr>
            <a:r>
              <a:rPr lang="en-US" sz="980" dirty="0">
                <a:solidFill>
                  <a:srgbClr val="E7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app/adapters/  llm_client.py  mcp_tools.py</a:t>
            </a:r>
            <a:endParaRPr lang="en-US" sz="980" dirty="0"/>
          </a:p>
          <a:p>
            <a:pPr indent="0" marL="0">
              <a:lnSpc>
                <a:spcPts val="1372"/>
              </a:lnSpc>
              <a:buNone/>
            </a:pPr>
            <a:r>
              <a:rPr lang="en-US" sz="980" dirty="0">
                <a:solidFill>
                  <a:srgbClr val="E7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app/api/       server.py  (FastAPI MCP server)</a:t>
            </a:r>
            <a:endParaRPr lang="en-US" sz="980" dirty="0"/>
          </a:p>
          <a:p>
            <a:pPr indent="0" marL="0">
              <a:lnSpc>
                <a:spcPts val="1372"/>
              </a:lnSpc>
              <a:buNone/>
            </a:pPr>
            <a:r>
              <a:rPr lang="en-US" sz="980" dirty="0">
                <a:solidFill>
                  <a:srgbClr val="E7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app/tests/     contract + property tests (LLM mocked)</a:t>
            </a:r>
            <a:endParaRPr lang="en-US" sz="980" dirty="0"/>
          </a:p>
          <a:p>
            <a:pPr indent="0" marL="0">
              <a:lnSpc>
                <a:spcPts val="1372"/>
              </a:lnSpc>
              <a:buNone/>
            </a:pPr>
            <a:r>
              <a:rPr lang="en-US" sz="980" dirty="0">
                <a:solidFill>
                  <a:srgbClr val="E7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.github/workflows/security.yml   (CI gate)</a:t>
            </a:r>
            <a:endParaRPr lang="en-US" sz="980" dirty="0"/>
          </a:p>
          <a:p>
            <a:pPr indent="0" marL="0">
              <a:lnSpc>
                <a:spcPts val="1372"/>
              </a:lnSpc>
              <a:buNone/>
            </a:pPr>
            <a:endParaRPr lang="en-US" sz="980" dirty="0"/>
          </a:p>
          <a:p>
            <a:pPr indent="0" marL="0">
              <a:lnSpc>
                <a:spcPts val="1372"/>
              </a:lnSpc>
              <a:buNone/>
            </a:pPr>
            <a:r>
              <a:rPr lang="en-US" sz="980" dirty="0">
                <a:solidFill>
                  <a:srgbClr val="E7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9. Commands</a:t>
            </a:r>
            <a:endParaRPr lang="en-US" sz="980" dirty="0"/>
          </a:p>
          <a:p>
            <a:pPr indent="0" marL="0">
              <a:lnSpc>
                <a:spcPts val="1372"/>
              </a:lnSpc>
              <a:buNone/>
            </a:pPr>
            <a:r>
              <a:rPr lang="en-US" sz="980" dirty="0">
                <a:solidFill>
                  <a:srgbClr val="E7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uv sync --frozen</a:t>
            </a:r>
            <a:endParaRPr lang="en-US" sz="980" dirty="0"/>
          </a:p>
          <a:p>
            <a:pPr indent="0" marL="0">
              <a:lnSpc>
                <a:spcPts val="1372"/>
              </a:lnSpc>
              <a:buNone/>
            </a:pPr>
            <a:r>
              <a:rPr lang="en-US" sz="980" dirty="0">
                <a:solidFill>
                  <a:srgbClr val="E7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uv run uvicorn app.api.server:app --reload</a:t>
            </a:r>
            <a:endParaRPr lang="en-US" sz="980" dirty="0"/>
          </a:p>
          <a:p>
            <a:pPr indent="0" marL="0">
              <a:lnSpc>
                <a:spcPts val="1372"/>
              </a:lnSpc>
              <a:buNone/>
            </a:pPr>
            <a:r>
              <a:rPr lang="en-US" sz="980" dirty="0">
                <a:solidFill>
                  <a:srgbClr val="E7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uv run pytest</a:t>
            </a:r>
            <a:endParaRPr lang="en-US" sz="980" dirty="0"/>
          </a:p>
          <a:p>
            <a:pPr indent="0" marL="0">
              <a:lnSpc>
                <a:spcPts val="1372"/>
              </a:lnSpc>
              <a:buNone/>
            </a:pPr>
            <a:endParaRPr lang="en-US" sz="980" dirty="0"/>
          </a:p>
          <a:p>
            <a:pPr indent="0" marL="0">
              <a:lnSpc>
                <a:spcPts val="1372"/>
              </a:lnSpc>
              <a:buNone/>
            </a:pPr>
            <a:r>
              <a:rPr lang="en-US" sz="980" dirty="0">
                <a:solidFill>
                  <a:srgbClr val="E7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10. Definition of Done  (pipeline runs · 4 layers · 🔒 attacks blocked · CI green · README current)</a:t>
            </a:r>
            <a:endParaRPr lang="en-US" sz="980" dirty="0"/>
          </a:p>
          <a:p>
            <a:pPr indent="0" marL="0">
              <a:lnSpc>
                <a:spcPts val="1372"/>
              </a:lnSpc>
              <a:buNone/>
            </a:pPr>
            <a:r>
              <a:rPr lang="en-US" sz="980" dirty="0">
                <a:solidFill>
                  <a:srgbClr val="E7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11. Do / Don't  (explicit guardrails for the coding agent)</a:t>
            </a:r>
            <a:endParaRPr lang="en-US" sz="980" dirty="0"/>
          </a:p>
          <a:p>
            <a:pPr indent="0" marL="0">
              <a:lnSpc>
                <a:spcPts val="1372"/>
              </a:lnSpc>
              <a:buNone/>
            </a:pPr>
            <a:r>
              <a:rPr lang="en-US" sz="980" dirty="0">
                <a:solidFill>
                  <a:srgbClr val="E7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12. Documentation — README.md  (create + keep in sync with the code, every step)</a:t>
            </a:r>
            <a:endParaRPr lang="en-US" sz="9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406640" cy="6858000"/>
          </a:xfrm>
          <a:prstGeom prst="rect">
            <a:avLst/>
          </a:prstGeom>
          <a:solidFill>
            <a:srgbClr val="E8460E"/>
          </a:solidFill>
          <a:ln/>
        </p:spPr>
      </p:sp>
      <p:sp>
        <p:nvSpPr>
          <p:cNvPr id="3" name="Shape 1"/>
          <p:cNvSpPr/>
          <p:nvPr/>
        </p:nvSpPr>
        <p:spPr>
          <a:xfrm>
            <a:off x="5394960" y="0"/>
            <a:ext cx="2011680" cy="6858000"/>
          </a:xfrm>
          <a:prstGeom prst="rect">
            <a:avLst/>
          </a:prstGeom>
          <a:solidFill>
            <a:srgbClr val="FF6600">
              <a:alpha val="70000"/>
            </a:srgbClr>
          </a:solidFill>
          <a:ln/>
        </p:spPr>
      </p:sp>
      <p:pic>
        <p:nvPicPr>
          <p:cNvPr id="4" name="Image 0" descr="unext_white_lock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2194560" cy="457200"/>
          </a:xfrm>
          <a:prstGeom prst="rect">
            <a:avLst/>
          </a:prstGeom>
        </p:spPr>
      </p:pic>
      <p:pic>
        <p:nvPicPr>
          <p:cNvPr id="5" name="Image 1" descr="unext_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502920"/>
            <a:ext cx="457200" cy="6858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" y="251460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E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4</a:t>
            </a:r>
            <a:endParaRPr lang="en-US" sz="1400" dirty="0"/>
          </a:p>
        </p:txBody>
      </p:sp>
      <p:sp>
        <p:nvSpPr>
          <p:cNvPr id="7" name="Text 3"/>
          <p:cNvSpPr/>
          <p:nvPr/>
        </p:nvSpPr>
        <p:spPr>
          <a:xfrm>
            <a:off x="548640" y="2880360"/>
            <a:ext cx="64922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It Across the Two Days</a:t>
            </a:r>
            <a:endParaRPr lang="en-US" sz="3200" dirty="0"/>
          </a:p>
        </p:txBody>
      </p:sp>
      <p:sp>
        <p:nvSpPr>
          <p:cNvPr id="8" name="Shape 4"/>
          <p:cNvSpPr/>
          <p:nvPr/>
        </p:nvSpPr>
        <p:spPr>
          <a:xfrm>
            <a:off x="566928" y="4343400"/>
            <a:ext cx="2926080" cy="0"/>
          </a:xfrm>
          <a:prstGeom prst="line">
            <a:avLst/>
          </a:prstGeom>
          <a:noFill/>
          <a:ln w="19050">
            <a:solidFill>
              <a:srgbClr val="FFD9C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772400" y="2880360"/>
            <a:ext cx="39319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AGENTS.md per use-case project. Three are provided as a base — start from the matching one, fill the &lt;placeholders&gt;, then build.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46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THREE FILES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45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Three Starting Files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298448"/>
            <a:ext cx="11064240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pic>
        <p:nvPicPr>
          <p:cNvPr id="5" name="Image 0" descr="unext_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365760"/>
            <a:ext cx="329184" cy="49377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6400800"/>
            <a:ext cx="9418320" cy="0"/>
          </a:xfrm>
          <a:prstGeom prst="line">
            <a:avLst/>
          </a:prstGeom>
          <a:noFill/>
          <a:ln w="9525">
            <a:solidFill>
              <a:srgbClr val="F0DCB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6437376"/>
            <a:ext cx="9326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76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content and the program approach is strictly confidential. It is strictly forbidden to share any part of this program design approach with any third party</a:t>
            </a:r>
            <a:endParaRPr lang="en-US" sz="700" dirty="0"/>
          </a:p>
        </p:txBody>
      </p:sp>
      <p:pic>
        <p:nvPicPr>
          <p:cNvPr id="8" name="Image 1" descr="unext_dark_lock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5560" y="6419088"/>
            <a:ext cx="1417320" cy="301752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48640" y="1828800"/>
            <a:ext cx="3474720" cy="3200400"/>
          </a:xfrm>
          <a:prstGeom prst="roundRect">
            <a:avLst>
              <a:gd name="adj" fmla="val 2000"/>
            </a:avLst>
          </a:prstGeom>
          <a:solidFill>
            <a:srgbClr val="FDF1E7"/>
          </a:solidFill>
          <a:ln w="9525">
            <a:solidFill>
              <a:srgbClr val="F0DCB8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685800" y="201168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E846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CS1 · Documentation Automation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731520" y="274320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Ingest → Structure → Draft → Review Routing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731520" y="3657600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Tools: file_reader, template_library, version_control, approval_workflow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4343400" y="1828800"/>
            <a:ext cx="3474720" cy="3200400"/>
          </a:xfrm>
          <a:prstGeom prst="roundRect">
            <a:avLst>
              <a:gd name="adj" fmla="val 2000"/>
            </a:avLst>
          </a:prstGeom>
          <a:solidFill>
            <a:srgbClr val="F5F7FA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480560" y="201168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0E7C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CS2 · Content Creation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4526280" y="274320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 → Draft → Style/Brand → Fact-Check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4526280" y="3657600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Tools: knowledge_base, style_guide, asset_fetcher, publish_workflow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8138160" y="1828800"/>
            <a:ext cx="3474720" cy="3200400"/>
          </a:xfrm>
          <a:prstGeom prst="roundRect">
            <a:avLst>
              <a:gd name="adj" fmla="val 2000"/>
            </a:avLst>
          </a:prstGeom>
          <a:solidFill>
            <a:srgbClr val="F5F7FA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8275320" y="201168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2E45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CS3 · Self-Healing System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8321040" y="274320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 → Diagnose → Remediate → Validate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8321040" y="3657600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Tools: log_metrics, alerting, runbook_executor, ticket_rollback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548640" y="52578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0E7C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is a complete, filled AGENTS.md — the agents, tools, domain guardrails and the 🔒 red-team check are already written. You fill the &lt;gateway&gt;, &lt;model&gt; and &lt;name&gt; placeholders and start building.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46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45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Build Loop With OpenCode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298448"/>
            <a:ext cx="11064240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pic>
        <p:nvPicPr>
          <p:cNvPr id="5" name="Image 0" descr="unext_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365760"/>
            <a:ext cx="329184" cy="49377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6400800"/>
            <a:ext cx="9418320" cy="0"/>
          </a:xfrm>
          <a:prstGeom prst="line">
            <a:avLst/>
          </a:prstGeom>
          <a:noFill/>
          <a:ln w="9525">
            <a:solidFill>
              <a:srgbClr val="F0DCB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6437376"/>
            <a:ext cx="9326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76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content and the program approach is strictly confidential. It is strictly forbidden to share any part of this program design approach with any third party</a:t>
            </a:r>
            <a:endParaRPr lang="en-US" sz="700" dirty="0"/>
          </a:p>
        </p:txBody>
      </p:sp>
      <p:pic>
        <p:nvPicPr>
          <p:cNvPr id="8" name="Image 1" descr="unext_dark_lock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5560" y="6419088"/>
            <a:ext cx="1417320" cy="301752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48640" y="1554480"/>
            <a:ext cx="6675120" cy="4480560"/>
          </a:xfrm>
          <a:prstGeom prst="roundRect">
            <a:avLst>
              <a:gd name="adj" fmla="val 1429"/>
            </a:avLst>
          </a:prstGeom>
          <a:solidFill>
            <a:srgbClr val="F5F7FA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77240" y="173736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46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by step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777240" y="2194560"/>
            <a:ext cx="630936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Put AGENTS.md at your project root</a:t>
            </a:r>
            <a:endParaRPr lang="en-US" sz="1200" dirty="0"/>
          </a:p>
          <a:p>
            <a:pPr marL="203200" indent="-2032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OpenCode reads it automatically — no flag needed</a:t>
            </a:r>
            <a:endParaRPr lang="en-US" sz="1200" dirty="0"/>
          </a:p>
          <a:p>
            <a:pPr marL="203200" indent="-2032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Fill the placeholders</a:t>
            </a:r>
            <a:endParaRPr lang="en-US" sz="1200" dirty="0"/>
          </a:p>
          <a:p>
            <a:pPr marL="203200" indent="-2032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&lt;gateway&gt; IP, &lt;model&gt;, your name, framework choice</a:t>
            </a:r>
            <a:endParaRPr lang="en-US" sz="1200" dirty="0"/>
          </a:p>
          <a:p>
            <a:pPr marL="203200" indent="-2032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Prompt in plain English, one agent at a time</a:t>
            </a:r>
            <a:endParaRPr lang="en-US" sz="1200" dirty="0"/>
          </a:p>
          <a:p>
            <a:pPr marL="203200" indent="-2032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"Build the Ingest agent and its pre-hook"</a:t>
            </a:r>
            <a:endParaRPr lang="en-US" sz="1200" dirty="0"/>
          </a:p>
          <a:p>
            <a:pPr marL="203200" indent="-2032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Review every change before you accept it</a:t>
            </a:r>
            <a:endParaRPr lang="en-US" sz="1200" dirty="0"/>
          </a:p>
          <a:p>
            <a:pPr marL="203200" indent="-2032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the scaffold rules make the diff easy to trust</a:t>
            </a:r>
            <a:endParaRPr lang="en-US" sz="1200" dirty="0"/>
          </a:p>
          <a:p>
            <a:pPr marL="203200" indent="-2032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· Run the loop: Define → … → Attack → Commit</a:t>
            </a:r>
            <a:endParaRPr lang="en-US" sz="1200" dirty="0"/>
          </a:p>
          <a:p>
            <a:pPr marL="203200" indent="-2032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re-run the red-team checks; commit when green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7406640" y="1554480"/>
            <a:ext cx="4206240" cy="4480560"/>
          </a:xfrm>
          <a:prstGeom prst="roundRect">
            <a:avLst>
              <a:gd name="adj" fmla="val 1522"/>
            </a:avLst>
          </a:prstGeom>
          <a:solidFill>
            <a:srgbClr val="FDF1E7"/>
          </a:solidFill>
          <a:ln w="9525">
            <a:solidFill>
              <a:srgbClr val="F0DCB8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635240" y="173736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45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AGENTS.md alive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7635240" y="2194560"/>
            <a:ext cx="374904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ts val="15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 it as the design changes — it's the source of truth</a:t>
            </a:r>
            <a:endParaRPr lang="en-US" sz="1150" dirty="0"/>
          </a:p>
          <a:p>
            <a:pPr marL="203200" indent="-203200">
              <a:lnSpc>
                <a:spcPts val="15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the agent does something wrong, the fix usually belongs in AGENTS.md, not the prompt</a:t>
            </a:r>
            <a:endParaRPr lang="en-US" sz="1150" dirty="0"/>
          </a:p>
          <a:p>
            <a:pPr marL="203200" indent="-203200">
              <a:lnSpc>
                <a:spcPts val="15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a project-specific Do/Don't the moment you hit a sharp edge</a:t>
            </a:r>
            <a:endParaRPr lang="en-US" sz="1150" dirty="0"/>
          </a:p>
          <a:p>
            <a:pPr marL="203200" indent="-203200">
              <a:lnSpc>
                <a:spcPts val="15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short, accurate AGENTS.md beats a long, stale one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46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45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Good AGENTS.md vs a Weak One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298448"/>
            <a:ext cx="11064240" cy="0"/>
          </a:xfrm>
          <a:prstGeom prst="line">
            <a:avLst/>
          </a:prstGeom>
          <a:noFill/>
          <a:ln w="19050">
            <a:solidFill>
              <a:srgbClr val="FF6600"/>
            </a:solidFill>
            <a:prstDash val="solid"/>
          </a:ln>
        </p:spPr>
      </p:sp>
      <p:pic>
        <p:nvPicPr>
          <p:cNvPr id="5" name="Image 0" descr="unext_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365760"/>
            <a:ext cx="329184" cy="49377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6400800"/>
            <a:ext cx="9418320" cy="0"/>
          </a:xfrm>
          <a:prstGeom prst="line">
            <a:avLst/>
          </a:prstGeom>
          <a:noFill/>
          <a:ln w="9525">
            <a:solidFill>
              <a:srgbClr val="F0DCB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6437376"/>
            <a:ext cx="9326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76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content and the program approach is strictly confidential. It is strictly forbidden to share any part of this program design approach with any third party</a:t>
            </a:r>
            <a:endParaRPr lang="en-US" sz="700" dirty="0"/>
          </a:p>
        </p:txBody>
      </p:sp>
      <p:pic>
        <p:nvPicPr>
          <p:cNvPr id="8" name="Image 1" descr="unext_dark_lock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5560" y="6419088"/>
            <a:ext cx="1417320" cy="301752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48640" y="1554480"/>
            <a:ext cx="5440680" cy="4480560"/>
          </a:xfrm>
          <a:prstGeom prst="roundRect">
            <a:avLst>
              <a:gd name="adj" fmla="val 1429"/>
            </a:avLst>
          </a:prstGeom>
          <a:solidFill>
            <a:srgbClr val="F5F7FA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77240" y="1737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7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A good one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777240" y="2212848"/>
            <a:ext cx="498348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ts val="17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b="1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Specific: names the agents, tools, and what each guardrail checks</a:t>
            </a:r>
            <a:endParaRPr lang="en-US" sz="1250" dirty="0"/>
          </a:p>
          <a:p>
            <a:pPr marL="203200" indent="-203200">
              <a:lnSpc>
                <a:spcPts val="17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Lists the 10 scaffold points explicitly</a:t>
            </a:r>
            <a:endParaRPr lang="en-US" sz="1250" dirty="0"/>
          </a:p>
          <a:p>
            <a:pPr marL="203200" indent="-203200">
              <a:lnSpc>
                <a:spcPts val="17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Marks which tools are destructive</a:t>
            </a:r>
            <a:endParaRPr lang="en-US" sz="1250" dirty="0"/>
          </a:p>
          <a:p>
            <a:pPr marL="203200" indent="-203200">
              <a:lnSpc>
                <a:spcPts val="17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 a concrete Definition of Done + 🔒 attack</a:t>
            </a:r>
            <a:endParaRPr lang="en-US" sz="1250" dirty="0"/>
          </a:p>
          <a:p>
            <a:pPr marL="203200" indent="-203200">
              <a:lnSpc>
                <a:spcPts val="17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Short, accurate, and kept up to date</a:t>
            </a:r>
            <a:endParaRPr lang="en-US" sz="1250" dirty="0"/>
          </a:p>
          <a:p>
            <a:pPr marL="203200" indent="-203200">
              <a:lnSpc>
                <a:spcPts val="17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Tells the agent what NOT to do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172200" y="1554480"/>
            <a:ext cx="5440680" cy="4480560"/>
          </a:xfrm>
          <a:prstGeom prst="roundRect">
            <a:avLst>
              <a:gd name="adj" fmla="val 1429"/>
            </a:avLst>
          </a:prstGeom>
          <a:solidFill>
            <a:srgbClr val="F5F7FA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400800" y="1737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46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A weak one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6400800" y="2212848"/>
            <a:ext cx="498348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ts val="17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b="1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Vague: "build a documentation system with guardrails"</a:t>
            </a:r>
            <a:endParaRPr lang="en-US" sz="1250" dirty="0"/>
          </a:p>
          <a:p>
            <a:pPr marL="203200" indent="-203200">
              <a:lnSpc>
                <a:spcPts val="17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scaffold rules → unsafe code by default</a:t>
            </a:r>
            <a:endParaRPr lang="en-US" sz="1250" dirty="0"/>
          </a:p>
          <a:p>
            <a:pPr marL="203200" indent="-203200">
              <a:lnSpc>
                <a:spcPts val="17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tool list → the agent invents tools</a:t>
            </a:r>
            <a:endParaRPr lang="en-US" sz="1250" dirty="0"/>
          </a:p>
          <a:p>
            <a:pPr marL="203200" indent="-203200">
              <a:lnSpc>
                <a:spcPts val="17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destructive-tool marking → unguarded actions</a:t>
            </a:r>
            <a:endParaRPr lang="en-US" sz="1250" dirty="0"/>
          </a:p>
          <a:p>
            <a:pPr marL="203200" indent="-203200">
              <a:lnSpc>
                <a:spcPts val="17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DoD → you never know when it's done</a:t>
            </a:r>
            <a:endParaRPr lang="en-US" sz="1250" dirty="0"/>
          </a:p>
          <a:p>
            <a:pPr marL="203200" indent="-203200">
              <a:lnSpc>
                <a:spcPts val="17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3A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Stale → the agent follows the wrong contract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846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0" y="0"/>
            <a:ext cx="4599432" cy="6858000"/>
          </a:xfrm>
          <a:prstGeom prst="rect">
            <a:avLst/>
          </a:prstGeom>
          <a:solidFill>
            <a:srgbClr val="FF6600"/>
          </a:solidFill>
          <a:ln/>
        </p:spPr>
      </p:sp>
      <p:pic>
        <p:nvPicPr>
          <p:cNvPr id="3" name="Image 0" descr="unext_white_lock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194560" cy="457200"/>
          </a:xfrm>
          <a:prstGeom prst="rect">
            <a:avLst/>
          </a:prstGeom>
        </p:spPr>
      </p:pic>
      <p:pic>
        <p:nvPicPr>
          <p:cNvPr id="4" name="Image 1" descr="unext_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457200"/>
            <a:ext cx="384048" cy="576072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48640" y="2468880"/>
            <a:ext cx="7772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 Contract First</a:t>
            </a:r>
            <a:endParaRPr lang="en-US" sz="3800" dirty="0"/>
          </a:p>
        </p:txBody>
      </p:sp>
      <p:sp>
        <p:nvSpPr>
          <p:cNvPr id="6" name="Text 2"/>
          <p:cNvSpPr/>
          <p:nvPr/>
        </p:nvSpPr>
        <p:spPr>
          <a:xfrm>
            <a:off x="566928" y="3657600"/>
            <a:ext cx="7589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E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clear AGENTS.md is the difference between the agent building WITH you and against you. Start from your use-case file, fill the placeholders, and build.</a:t>
            </a:r>
            <a:endParaRPr lang="en-US" sz="1500" dirty="0"/>
          </a:p>
        </p:txBody>
      </p:sp>
      <p:sp>
        <p:nvSpPr>
          <p:cNvPr id="7" name="Shape 3"/>
          <p:cNvSpPr/>
          <p:nvPr/>
        </p:nvSpPr>
        <p:spPr>
          <a:xfrm>
            <a:off x="566928" y="4892040"/>
            <a:ext cx="2926080" cy="0"/>
          </a:xfrm>
          <a:prstGeom prst="line">
            <a:avLst/>
          </a:prstGeom>
          <a:noFill/>
          <a:ln w="19050">
            <a:solidFill>
              <a:srgbClr val="FFD9C2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66928" y="6355080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E0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content and the program approach is strictly confidential. It is strictly forbidden to share any part of this program design approach with any third party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2026-10-03T06:13:57Z</dcterms:created>
  <dcterms:modified xsi:type="dcterms:W3CDTF">2026-10-03T06:13:57Z</dcterms:modified>
</cp:coreProperties>
</file>